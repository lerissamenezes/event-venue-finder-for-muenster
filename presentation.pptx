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6454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E06C3A">
              <a:alpha val="15000"/>
            </a:srgbClr>
          </a:solidFill>
          <a:ln w="12700">
            <a:solidFill>
              <a:srgbClr val="E06C3A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Venue Finder for Münster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65760" y="1965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06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GIS Application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3839029"/>
            <a:ext cx="8412480" cy="870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dirty="0"/>
              <a:t> </a:t>
            </a:r>
            <a:endParaRPr lang="en-IN" dirty="0"/>
          </a:p>
          <a:p>
            <a:r>
              <a:rPr lang="de-DE" dirty="0">
                <a:solidFill>
                  <a:schemeClr val="bg1"/>
                </a:solidFill>
              </a:rPr>
              <a:t>Khanh Giang Le 556087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Lerissa Merril Menezes 564864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" name="Picture 6" descr="Institut für Geoinformatik">
            <a:extLst>
              <a:ext uri="{FF2B5EF4-FFF2-40B4-BE49-F238E27FC236}">
                <a16:creationId xmlns:a16="http://schemas.microsoft.com/office/drawing/2014/main" id="{F538D855-3B3C-9962-DB95-EAE32C1A0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340" y="266700"/>
            <a:ext cx="1739900" cy="645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Top Employers in Münsterland ...">
            <a:extLst>
              <a:ext uri="{FF2B5EF4-FFF2-40B4-BE49-F238E27FC236}">
                <a16:creationId xmlns:a16="http://schemas.microsoft.com/office/drawing/2014/main" id="{556AF1C7-9EDB-CEA0-C6E1-A52FD57804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59" y="266701"/>
            <a:ext cx="2297611" cy="645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457200"/>
          </a:xfrm>
          <a:prstGeom prst="rect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64008" cy="1645920"/>
          </a:xfrm>
          <a:prstGeom prst="rect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Goal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map for discovering event venues in Münster with public transport accessibility.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64008" cy="1645920"/>
          </a:xfrm>
          <a:prstGeom prst="rect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Datasets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Self-compiled event venues + external Münster bus stop locations, both in GeoJSON.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34640"/>
            <a:ext cx="64008" cy="1645920"/>
          </a:xfrm>
          <a:prstGeom prst="rect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Stack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337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GeoServer (WFS) · Leaflet.js · OSRM Routing · HTML / CSS / JavaScript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41148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64008" cy="1645920"/>
          </a:xfrm>
          <a:prstGeom prst="rect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🗺️  Key 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33756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popups with full attributes, nearest bus stop, and walking route on click.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457200"/>
          </a:xfrm>
          <a:prstGeom prst="rect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0" cy="2560320"/>
          </a:xfrm>
          <a:prstGeom prst="rect">
            <a:avLst/>
          </a:prstGeom>
          <a:solidFill>
            <a:srgbClr val="3A7DE0">
              <a:alpha val="12000"/>
            </a:srgbClr>
          </a:solidFill>
          <a:ln w="25400">
            <a:solidFill>
              <a:srgbClr val="3A7D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560320" cy="411480"/>
          </a:xfrm>
          <a:prstGeom prst="rect">
            <a:avLst/>
          </a:prstGeom>
          <a:solidFill>
            <a:srgbClr val="3A7DE0"/>
          </a:solidFill>
          <a:ln w="12700">
            <a:solidFill>
              <a:srgbClr val="3A7D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Tier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Shapefile (.shp)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event_venues.shp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busstops.shp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UTF-8 encoding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626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Stored in GeoServer data_dir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2286000"/>
            <a:ext cx="27432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0" y="1005840"/>
            <a:ext cx="2560320" cy="2560320"/>
          </a:xfrm>
          <a:prstGeom prst="rect">
            <a:avLst/>
          </a:prstGeom>
          <a:solidFill>
            <a:srgbClr val="E06C3A">
              <a:alpha val="12000"/>
            </a:srgbClr>
          </a:solidFill>
          <a:ln w="25400">
            <a:solidFill>
              <a:srgbClr val="E06C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5" name="Shape 13"/>
          <p:cNvSpPr/>
          <p:nvPr/>
        </p:nvSpPr>
        <p:spPr>
          <a:xfrm>
            <a:off x="3200400" y="1005840"/>
            <a:ext cx="2560320" cy="411480"/>
          </a:xfrm>
          <a:prstGeom prst="rect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Tier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6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GeoServer WFS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OGC WFS endpoints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267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CORS enabled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6151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outputFormat=application/json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29626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Separate stores in a workspace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2286000"/>
            <a:ext cx="27432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8888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35040" y="1005840"/>
            <a:ext cx="2560320" cy="2560320"/>
          </a:xfrm>
          <a:prstGeom prst="rect">
            <a:avLst/>
          </a:prstGeom>
          <a:solidFill>
            <a:srgbClr val="2A9D5C">
              <a:alpha val="12000"/>
            </a:srgbClr>
          </a:solidFill>
          <a:ln w="25400">
            <a:solidFill>
              <a:srgbClr val="2A9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1005840"/>
            <a:ext cx="2560320" cy="411480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Presentation Tier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35040" y="1417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9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Frontend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Promise.all() fetch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2267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Haversine proximity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26480" y="26151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Leaflet popups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29626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OSRM routing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840480"/>
            <a:ext cx="841248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8862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3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CORS required: CrossOriginFilter enabled in web.xml with chainPreflight=false for Jetty 10 compatibility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457200"/>
          </a:xfrm>
          <a:prstGeom prst="rect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57200" cy="457200"/>
          </a:xfrm>
          <a:prstGeom prst="ellipse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 GeoJSON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2618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Self-compiled venue dataset with attributes. External bus stop GeoJSON for Münster.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0" cy="502920"/>
          </a:xfrm>
          <a:prstGeom prst="line">
            <a:avLst/>
          </a:prstGeom>
          <a:noFill/>
          <a:ln w="12700">
            <a:solidFill>
              <a:srgbClr val="E06C3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320040" y="2011680"/>
            <a:ext cx="457200" cy="457200"/>
          </a:xfrm>
          <a:prstGeom prst="ellipse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Convert in QGIS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2677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Shapefile with UTF-8 encoding. Add .cpg file to fix umlaut rendering.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0" cy="502920"/>
          </a:xfrm>
          <a:prstGeom prst="line">
            <a:avLst/>
          </a:prstGeom>
          <a:noFill/>
          <a:ln w="12700">
            <a:solidFill>
              <a:srgbClr val="E06C3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320040" y="3017520"/>
            <a:ext cx="457200" cy="457200"/>
          </a:xfrm>
          <a:prstGeom prst="ellipse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 in GeoServer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32735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workspace → store → publish layer. Compute bounding box from data.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0" cy="502920"/>
          </a:xfrm>
          <a:prstGeom prst="line">
            <a:avLst/>
          </a:prstGeom>
          <a:noFill/>
          <a:ln w="12700">
            <a:solidFill>
              <a:srgbClr val="E06C3A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20040" y="4023360"/>
            <a:ext cx="457200" cy="457200"/>
          </a:xfrm>
          <a:prstGeom prst="ellipse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WFS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42793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endpoint in browser. Confirm GeoJSON response with correct features.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960120"/>
            <a:ext cx="3749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0" y="960120"/>
            <a:ext cx="374904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9601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 Shapefile Limitations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166360" y="1463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6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names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1463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to 10 chars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available_evenings → available_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66360" y="2011680"/>
            <a:ext cx="347472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21214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6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21214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to comma-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strings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66360" y="2670048"/>
            <a:ext cx="347472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27797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6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92240" y="277977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explicit UTF-8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.cpg companion file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66360" y="3328416"/>
            <a:ext cx="3474720" cy="0"/>
          </a:xfrm>
          <a:prstGeom prst="line">
            <a:avLst/>
          </a:prstGeom>
          <a:noFill/>
          <a:ln w="9525">
            <a:solidFill>
              <a:srgbClr val="EEEE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66360" y="343814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6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92240" y="343814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0/1 integers,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true/false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457200"/>
          </a:xfrm>
          <a:prstGeom prst="rect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 Interface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93318"/>
            <a:ext cx="6554288" cy="3931920"/>
          </a:xfrm>
          <a:prstGeom prst="rect">
            <a:avLst/>
          </a:prstGeom>
          <a:solidFill>
            <a:srgbClr val="E8EDF5"/>
          </a:solidFill>
          <a:ln w="19050">
            <a:solidFill>
              <a:srgbClr val="3A7DE0"/>
            </a:solidFill>
            <a:prstDash val="dash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53035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</a:t>
            </a:r>
            <a:r>
              <a:rPr lang="en-US" sz="1300" b="1" dirty="0">
                <a:solidFill>
                  <a:srgbClr val="3A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your map screenshot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025821" y="88696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7013303" y="88696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575368" y="955330"/>
            <a:ext cx="126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Orange markers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75368" y="1149062"/>
            <a:ext cx="931091" cy="373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venues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025821" y="1680697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7013303" y="1666007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75368" y="1753849"/>
            <a:ext cx="126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Blue markers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75368" y="1986047"/>
            <a:ext cx="878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stops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25821" y="2450592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25821" y="24231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75368" y="2516400"/>
            <a:ext cx="1111432" cy="272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Hover tooltip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575368" y="2770632"/>
            <a:ext cx="1111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venue/stop name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25821" y="3204845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13303" y="3204845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🖱️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575368" y="3246120"/>
            <a:ext cx="1111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venue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575368" y="3520440"/>
            <a:ext cx="1111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full popup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25821" y="3990382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3" name="Text 21"/>
          <p:cNvSpPr/>
          <p:nvPr/>
        </p:nvSpPr>
        <p:spPr>
          <a:xfrm>
            <a:off x="7025821" y="3995928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75368" y="3995928"/>
            <a:ext cx="1111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Click venue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75368" y="4270248"/>
            <a:ext cx="1111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walking route</a:t>
            </a:r>
            <a:endParaRPr lang="en-US" sz="11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0F82B8F-5454-1E2A-723A-F3DA20CFB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00955"/>
            <a:ext cx="6554288" cy="39166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457200"/>
          </a:xfrm>
          <a:prstGeom prst="rect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Venue Popup &amp; Nearest Bus Stop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59" y="914400"/>
            <a:ext cx="5959623" cy="3931920"/>
          </a:xfrm>
          <a:prstGeom prst="rect">
            <a:avLst/>
          </a:prstGeom>
          <a:solidFill>
            <a:srgbClr val="E8EDF5"/>
          </a:solidFill>
          <a:ln w="19050">
            <a:solidFill>
              <a:srgbClr val="3A7DE0"/>
            </a:solidFill>
            <a:prstDash val="dash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5959622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</a:t>
            </a:r>
            <a:r>
              <a:rPr lang="en-US" sz="1300" b="1" dirty="0">
                <a:solidFill>
                  <a:srgbClr val="3A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venue popup screenshot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624320" y="928116"/>
            <a:ext cx="2336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24320" y="941832"/>
            <a:ext cx="2336800" cy="4114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6843486" y="914400"/>
            <a:ext cx="193475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Popup Attributes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24320" y="1353312"/>
            <a:ext cx="2336800" cy="658368"/>
          </a:xfrm>
          <a:prstGeom prst="rect">
            <a:avLst/>
          </a:prstGeom>
          <a:solidFill>
            <a:srgbClr val="EEF4FF"/>
          </a:solidFill>
          <a:ln w="12700">
            <a:solidFill>
              <a:srgbClr val="3A7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6570" y="1417320"/>
            <a:ext cx="22845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 Nearest Bus Stop  →  Calculated via Haversine formula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76570" y="2084832"/>
            <a:ext cx="2954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Address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6570" y="2377440"/>
            <a:ext cx="1964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Min / Max Capacity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6570" y="2670048"/>
            <a:ext cx="1964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🚻 Restrooms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76570" y="2962656"/>
            <a:ext cx="1964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🍺 Alcohol allowed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676570" y="3255264"/>
            <a:ext cx="1964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🍕 Food allowed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76570" y="3547872"/>
            <a:ext cx="1964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Permit required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76570" y="3840480"/>
            <a:ext cx="19645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Noise restrictions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6570" y="4133088"/>
            <a:ext cx="19333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🌙 Available evenings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6570" y="4425696"/>
            <a:ext cx="1964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Available weekends</a:t>
            </a:r>
            <a:endParaRPr lang="en-US" sz="11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B193F71-0F9B-2621-A660-F5DC412138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270"/>
          <a:stretch>
            <a:fillRect/>
          </a:stretch>
        </p:blipFill>
        <p:spPr>
          <a:xfrm>
            <a:off x="378412" y="914400"/>
            <a:ext cx="5925867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457200"/>
          </a:xfrm>
          <a:prstGeom prst="rect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Walking Route to Nearest Bus Stop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59" y="914400"/>
            <a:ext cx="6396809" cy="3931920"/>
          </a:xfrm>
          <a:prstGeom prst="rect">
            <a:avLst/>
          </a:prstGeom>
          <a:solidFill>
            <a:srgbClr val="E8EDF5"/>
          </a:solidFill>
          <a:ln w="19050">
            <a:solidFill>
              <a:srgbClr val="3A7DE0"/>
            </a:solidFill>
            <a:prstDash val="dash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53035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</a:t>
            </a:r>
            <a:r>
              <a:rPr lang="en-US" sz="1300" b="1" dirty="0">
                <a:solidFill>
                  <a:srgbClr val="3A7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with routing screenshot</a:t>
            </a:r>
            <a:endParaRPr lang="en-US" sz="20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3D4186-F720-A464-F66B-E5827E9F0616}"/>
              </a:ext>
            </a:extLst>
          </p:cNvPr>
          <p:cNvGrpSpPr/>
          <p:nvPr/>
        </p:nvGrpSpPr>
        <p:grpSpPr>
          <a:xfrm>
            <a:off x="6881948" y="914400"/>
            <a:ext cx="3063240" cy="3849624"/>
            <a:chOff x="5760720" y="960120"/>
            <a:chExt cx="3063240" cy="3849624"/>
          </a:xfrm>
        </p:grpSpPr>
        <p:sp>
          <p:nvSpPr>
            <p:cNvPr id="6" name="Shape 4"/>
            <p:cNvSpPr/>
            <p:nvPr/>
          </p:nvSpPr>
          <p:spPr>
            <a:xfrm>
              <a:off x="5760720" y="1051560"/>
              <a:ext cx="411480" cy="411480"/>
            </a:xfrm>
            <a:prstGeom prst="ellipse">
              <a:avLst/>
            </a:prstGeom>
            <a:solidFill>
              <a:srgbClr val="E06C3A"/>
            </a:solidFill>
            <a:ln w="12700">
              <a:solidFill>
                <a:srgbClr val="E06C3A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5760720" y="105156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1</a:t>
              </a:r>
              <a:endParaRPr lang="en-US" sz="13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263640" y="960120"/>
              <a:ext cx="2560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2E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User clicks venue</a:t>
              </a:r>
              <a:endParaRPr lang="en-US" sz="13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263640" y="1289304"/>
              <a:ext cx="1504763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layer.on('click') event fires</a:t>
              </a:r>
              <a:endParaRPr lang="en-US" sz="12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5966460" y="1463040"/>
              <a:ext cx="0" cy="502920"/>
            </a:xfrm>
            <a:prstGeom prst="line">
              <a:avLst/>
            </a:prstGeom>
            <a:noFill/>
            <a:ln w="12700">
              <a:solidFill>
                <a:srgbClr val="888888"/>
              </a:solidFill>
              <a:prstDash val="dash"/>
            </a:ln>
          </p:spPr>
        </p:sp>
        <p:sp>
          <p:nvSpPr>
            <p:cNvPr id="11" name="Shape 9"/>
            <p:cNvSpPr/>
            <p:nvPr/>
          </p:nvSpPr>
          <p:spPr>
            <a:xfrm>
              <a:off x="5760720" y="2057400"/>
              <a:ext cx="411480" cy="411480"/>
            </a:xfrm>
            <a:prstGeom prst="ellipse">
              <a:avLst/>
            </a:prstGeom>
            <a:solidFill>
              <a:srgbClr val="3A7DE0"/>
            </a:solidFill>
            <a:ln w="12700">
              <a:solidFill>
                <a:srgbClr val="3A7DE0"/>
              </a:solidFill>
              <a:prstDash val="solid"/>
            </a:ln>
          </p:spPr>
        </p:sp>
        <p:sp>
          <p:nvSpPr>
            <p:cNvPr id="12" name="Text 10"/>
            <p:cNvSpPr/>
            <p:nvPr/>
          </p:nvSpPr>
          <p:spPr>
            <a:xfrm>
              <a:off x="5760720" y="205740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2</a:t>
              </a:r>
              <a:endParaRPr lang="en-US" sz="13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6263640" y="1965960"/>
              <a:ext cx="2560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2E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Find nearest stop</a:t>
              </a:r>
              <a:endParaRPr lang="en-US" sz="13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6263640" y="2295144"/>
              <a:ext cx="1450703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Haversine loop over all bus stops</a:t>
              </a:r>
              <a:endParaRPr lang="en-US" sz="12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5966460" y="2468880"/>
              <a:ext cx="0" cy="502920"/>
            </a:xfrm>
            <a:prstGeom prst="line">
              <a:avLst/>
            </a:prstGeom>
            <a:noFill/>
            <a:ln w="12700">
              <a:solidFill>
                <a:srgbClr val="888888"/>
              </a:solidFill>
              <a:prstDash val="dash"/>
            </a:ln>
          </p:spPr>
        </p:sp>
        <p:sp>
          <p:nvSpPr>
            <p:cNvPr id="16" name="Shape 14"/>
            <p:cNvSpPr/>
            <p:nvPr/>
          </p:nvSpPr>
          <p:spPr>
            <a:xfrm>
              <a:off x="5760720" y="3063240"/>
              <a:ext cx="411480" cy="411480"/>
            </a:xfrm>
            <a:prstGeom prst="ellipse">
              <a:avLst/>
            </a:prstGeom>
            <a:solidFill>
              <a:srgbClr val="2A9D5C"/>
            </a:solidFill>
            <a:ln w="12700">
              <a:solidFill>
                <a:srgbClr val="2A9D5C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5760720" y="306324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3</a:t>
              </a:r>
              <a:endParaRPr lang="en-US" sz="13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263640" y="2971800"/>
              <a:ext cx="2560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2E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Call OSRM</a:t>
              </a:r>
              <a:endParaRPr lang="en-US" sz="13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6263640" y="3300984"/>
              <a:ext cx="1450701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Pedestrian routing via routing.openstreetmap.de</a:t>
              </a:r>
              <a:endParaRPr lang="en-US" sz="12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5966460" y="3474720"/>
              <a:ext cx="0" cy="502920"/>
            </a:xfrm>
            <a:prstGeom prst="line">
              <a:avLst/>
            </a:prstGeom>
            <a:noFill/>
            <a:ln w="12700">
              <a:solidFill>
                <a:srgbClr val="888888"/>
              </a:solidFill>
              <a:prstDash val="dash"/>
            </a:ln>
          </p:spPr>
        </p:sp>
        <p:sp>
          <p:nvSpPr>
            <p:cNvPr id="21" name="Shape 19"/>
            <p:cNvSpPr/>
            <p:nvPr/>
          </p:nvSpPr>
          <p:spPr>
            <a:xfrm>
              <a:off x="5760720" y="4069080"/>
              <a:ext cx="411480" cy="411480"/>
            </a:xfrm>
            <a:prstGeom prst="ellipse">
              <a:avLst/>
            </a:prstGeom>
            <a:solidFill>
              <a:srgbClr val="1A1A2E"/>
            </a:solidFill>
            <a:ln w="12700">
              <a:solidFill>
                <a:srgbClr val="1A1A2E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760720" y="4069080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4</a:t>
              </a:r>
              <a:endParaRPr lang="en-US" sz="13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6263640" y="3977640"/>
              <a:ext cx="256032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1A1A2E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Draw route</a:t>
              </a:r>
              <a:endParaRPr lang="en-US" sz="13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6263640" y="4306824"/>
              <a:ext cx="1450701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8888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Blue polyline, previous route removed</a:t>
              </a:r>
              <a:endParaRPr lang="en-US" sz="1200" dirty="0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13A681CE-D5BB-B061-1066-20AA7C7DE9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898"/>
          <a:stretch>
            <a:fillRect/>
          </a:stretch>
        </p:blipFill>
        <p:spPr>
          <a:xfrm>
            <a:off x="365758" y="924052"/>
            <a:ext cx="6396809" cy="39222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54864" cy="457200"/>
          </a:xfrm>
          <a:prstGeom prst="rect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Lessons Learned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73152"/>
          </a:xfrm>
          <a:prstGeom prst="rect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6C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CORS Configuration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web.xml CrossOriginFilter with chainPreflight=false required for Jetty 10. Both filter and filter-mapping blocks needed.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114800" cy="73152"/>
          </a:xfrm>
          <a:prstGeom prst="rect">
            <a:avLst/>
          </a:prstGeom>
          <a:solidFill>
            <a:srgbClr val="3A7DE0"/>
          </a:solidFill>
          <a:ln w="12700">
            <a:solidFill>
              <a:srgbClr val="3A7D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97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A7D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✂️  Shapefile Field Truncation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attribute references in map.js had to match 10-char truncated names from GeoServer (e.g. available_ vs available_evenings).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4114800" cy="73152"/>
          </a:xfrm>
          <a:prstGeom prst="rect">
            <a:avLst/>
          </a:prstGeom>
          <a:solidFill>
            <a:srgbClr val="2A9D5C"/>
          </a:solidFill>
          <a:ln w="12700">
            <a:solidFill>
              <a:srgbClr val="2A9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63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🔤  UTF-8 Encoding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4290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umlauts corrupted without explicit UTF-8 export in QGIS and a .cpg companion file in the shapefile folder.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4114800" cy="7315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063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Client-Side Spatial Logic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42900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Haversine formula computed entirely in the browser — no server-side spatial query needed for nearest stop calculation.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6C3A"/>
          </a:solidFill>
          <a:ln w="12700">
            <a:solidFill>
              <a:srgbClr val="E06C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 datasets published through GeoServer as OGC WFS services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frontend fetches both layers in parallel via Promise.all()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bus stop computed client-side using the Haversine formula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route drawn on click using Leaflet Routing Machine + OSRM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Shapefile limitations required workarounds for field names, arrays, and encoding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606</Words>
  <Application>Microsoft Office PowerPoint</Application>
  <PresentationFormat>On-screen Show (16:9)</PresentationFormat>
  <Paragraphs>130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Münster Event Venue Finder</dc:title>
  <dc:subject>PptxGenJS Presentation</dc:subject>
  <dc:creator>PptxGenJS</dc:creator>
  <cp:lastModifiedBy>Lerissa Merril Menezes</cp:lastModifiedBy>
  <cp:revision>3</cp:revision>
  <dcterms:created xsi:type="dcterms:W3CDTF">2026-02-28T13:11:22Z</dcterms:created>
  <dcterms:modified xsi:type="dcterms:W3CDTF">2026-03-01T18:22:43Z</dcterms:modified>
</cp:coreProperties>
</file>